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0078D7"/>
                </a:solidFill>
                <a:latin typeface="Segoe UI"/>
              </a:rPr>
              <a:t>基于 SFT 与 DPO 的视觉语言模型幻觉缓解研究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大模型后训练技术 · 方向6 视觉问答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李俊霖 | 2026年4月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基于 SFT 与 DPO 的视觉语言模型幻觉缓解研究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8DCFF"/>
                </a:solidFill>
              </a:rPr>
              <a:t>大模型后训练技术  ·  方向6 视觉问答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B4C8F0"/>
                </a:solidFill>
              </a:rPr>
              <a:t>李俊霖  | 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问题背景与研究目标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问题背景与研究目标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840480" cy="2743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282828"/>
                </a:solidFill>
              </a:rPr>
              <a:t>视觉幻觉 (Visual Hallucination)\n\nVLM 生成图像中不存在的物体或事实\n\n· GPT-4V 幻觉率: 31.2%\n· LLaVA-1.5 幻觉率: 33.3%\n· 严重影响可靠性和用户信任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840480" cy="2743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282828"/>
                </a:solidFill>
              </a:rPr>
              <a:t>研究目标\n\n1. SFT 对幻觉的影响\n    (改善还是恶化?)\n2. DPO 能否纠正 SFT 偏差?\n3. 判别式 vs 生成式幻觉关系\n4. 能力保持 vs 幻觉缓解权衡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3C78"/>
                </a:solidFill>
              </a:rPr>
              <a:t>方法: SFT (指令微调) + DPO (偏好优化) 两阶段后训练  |  25 组模型系统消融  |  4 基准互补评估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技术方案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1828800" cy="640080"/>
          </a:xfrm>
          <a:prstGeom prst="roundRect">
            <a:avLst/>
          </a:prstGeom>
          <a:solidFill>
            <a:srgbClr val="4682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FFFFFF"/>
                </a:solidFill>
              </a:rPr>
              <a:t>Qwen3-VL-8B\nBase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1828800" cy="640080"/>
          </a:xfrm>
          <a:prstGeom prst="roundRect">
            <a:avLst/>
          </a:prstGeom>
          <a:solidFill>
            <a:srgbClr val="28A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FFFFFF"/>
                </a:solidFill>
              </a:rPr>
              <a:t>SFT\nLoRA 0.29%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1828800" cy="640080"/>
          </a:xfrm>
          <a:prstGeom prst="roundRect">
            <a:avLst/>
          </a:prstGeom>
          <a:solidFill>
            <a:srgbClr val="C850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FFFFFF"/>
                </a:solidFill>
              </a:rPr>
              <a:t>DPO\nSigmoid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188720"/>
            <a:ext cx="1463040" cy="640080"/>
          </a:xfrm>
          <a:prstGeom prst="roundRect">
            <a:avLst/>
          </a:prstGeom>
          <a:solidFill>
            <a:srgbClr val="8C64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评估\n4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46464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46464"/>
                </a:solidFill>
              </a:rPr>
              <a:t>→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228600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/>
                        <a:t>模型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SFT 数据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DPO 数据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评估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/>
                        <a:t>Qwen3-VL-8B-Instruct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LLaVA-Instruct-150K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RLHF-V 5.7K (人工)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POPE (判别式)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/>
                        <a:t>LoRA r=8, α=16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5K/10K/25K/50K 消融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RLAIF-V 83K (AI标注)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CHAIR (生成式)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/>
                        <a:t>0.29% 可训练参数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BF16, lr=1e-4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β=0.1~1.0 消融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MME + MMBench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实验设计概览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消融维度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评估基准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实验设计概览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23232"/>
                </a:solidFill>
              </a:rPr>
              <a:t>五维正交消融\n\n  1. LoRA Rank: r=4/8/16/32\n  2. SFT 数据规模: 5K/10K/25K/50K\n  3. DPO Beta: 0.01/0.05/0.1/0.2/0.5/1.0\n  4. 损失函数: Sigmoid/Hinge/IPO\n  5. 训练轮数: 1 epoch vs 3 epochs\n\n+ 5 组 RLAIF-V 补充实验 (AI标注 vs 人工标注)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Brief description of what this chapter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现场演示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CFF"/>
                </a:solidFill>
              </a:rPr>
              <a:t>Gradio Web UI  |  成功案例 + Base vs DPO 对比 + 失败案例分析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核心实验结果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91885">
                <a:tc>
                  <a:txBody>
                    <a:bodyPr wrap="square"/>
                    <a:lstStyle/>
                    <a:p>
                      <a:r>
                        <a:rPr sz="1200" b="1"/>
                        <a:t>模型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POPE F1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Yes-Ratio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CHAIR_i ↓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MME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MMBench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/>
                        <a:t>Base (无训练)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0.906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0.431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33.31%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2008.0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89.72%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/>
                        <a:t>SFT 5K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0.922 ↑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0.457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16.73%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1899.0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89.35%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/>
                        <a:t>DPO-only (无SFT)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0.900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0.426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31.83%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1964.5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/>
                        <a:t>True Optimal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0.889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0.413 ↓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20.12%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1990.5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/>
                        <a:t>RLAIF-V optimal_5k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0.918 ↑↑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0.448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19.49%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89.47%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200"/>
                        <a:t>RLAIF-V only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0.913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0.438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33.55%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89.65%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3C78"/>
                </a:solidFill>
              </a:rPr>
              <a:t>SFT 大幅降低幻觉 (CHAIR 33%→17%)  |  DPO 纠正 yes-bias (0.457→0.413)  |  MME/MMBench 能力保持 &gt;99%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关键发现 1：少即是多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5_3_data_scal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438912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188720"/>
            <a:ext cx="3931920" cy="2743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1E1E1E"/>
                </a:solidFill>
              </a:rPr>
              <a:t>SFT 阶段\n  5K (F1=0.922) &gt;&gt; 50K (0.895)\n  +2.7pp, 训练时间仅 1/10\n\nDPO 阶段 (RLAIF-V)\n  5.7K &gt; 20K (3.5x 规模)\n  POPE +1.0%, CHAIR -4.1pp\n\n普适规律\n  数据质量 &gt; 数量\n  大规模放大 yes-bias 偏差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关键发现 2：DPO-only 悖论 &amp; AI 标注对比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4_5_dpo_only_parad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114800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097280"/>
            <a:ext cx="4114800" cy="201168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C8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1E1E"/>
                </a:solidFill>
              </a:rPr>
              <a:t>DPO-only 悖论\n\nPOPE 判别: F1=0.900 (优秀)\nCHAIR 生成: 31.83% (接近 Base)\n\n判别能力 ≠ 生成质量\nSFT 对生成不可替代\nRLAIF-V only 再次验证此结论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3291840"/>
          <a:ext cx="8595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100" b="1"/>
                        <a:t>指标</a:t>
                      </a:r>
                    </a:p>
                  </a:txBody>
                  <a:tcPr>
                    <a:solidFill>
                      <a:srgbClr val="28A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RLAIF-V (AI)</a:t>
                      </a:r>
                    </a:p>
                  </a:txBody>
                  <a:tcPr>
                    <a:solidFill>
                      <a:srgbClr val="28A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RLHF-V (人工)</a:t>
                      </a:r>
                    </a:p>
                  </a:txBody>
                  <a:tcPr>
                    <a:solidFill>
                      <a:srgbClr val="28A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差异</a:t>
                      </a:r>
                    </a:p>
                  </a:txBody>
                  <a:tcPr>
                    <a:solidFill>
                      <a:srgbClr val="28A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优劣</a:t>
                      </a:r>
                    </a:p>
                  </a:txBody>
                  <a:tcPr>
                    <a:solidFill>
                      <a:srgbClr val="28A07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/>
                        <a:t>POPE F1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0.918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0.889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+3.3%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AI ✅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/>
                        <a:t>CHAIR_i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19.49%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20.12%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-0.6pp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AI ✅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/>
                        <a:t>Recall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70.14%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74.24%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-4.1pp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人工 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9amrby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C78"/>
                </a:solidFill>
              </a:rPr>
              <a:t>踩坑经验与反思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1E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4023360" cy="109728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1E1E"/>
                </a:solidFill>
              </a:rPr>
              <a:t>Think 标签陷阱\n\nDPO 模型 91.6% 输出产生畸形 &lt;think&gt; 标签\nF1 从 0.780 被误算为 0.098\n解决: 改用 &lt;/?think&gt; 逐标签清理正则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1097280"/>
          </a:xfrm>
          <a:prstGeom prst="roundRect">
            <a:avLst/>
          </a:prstGeom>
          <a:solidFill>
            <a:srgbClr val="FFF8E6"/>
          </a:solidFill>
          <a:ln w="19050">
            <a:solidFill>
              <a:srgbClr val="C8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1E1E"/>
                </a:solidFill>
              </a:rPr>
              <a:t>Beta 调参陷阱\n\nbeta &lt; 0.1: 模型完全崩溃 (F1=0)\nbeta = 1.0: 效果最好\n教训: 参考文献确定超参数范围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4023360" cy="109728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3C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1E1E"/>
                </a:solidFill>
              </a:rPr>
              <a:t>SFT 意外恶化 POPE\n\nSFT 50K 后 POPE 从 0.906 降至 0.895\n原因: yes-bias 从 43%→47% (高难度达 55%)\n"少即是多"正是此发现推动的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77440"/>
            <a:ext cx="4023360" cy="1097280"/>
          </a:xfrm>
          <a:prstGeom prst="roundRect">
            <a:avLst/>
          </a:prstGeom>
          <a:solidFill>
            <a:srgbClr val="EBFAF0"/>
          </a:solidFill>
          <a:ln w="19050">
            <a:solidFill>
              <a:srgbClr val="28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1E1E"/>
                </a:solidFill>
              </a:rPr>
              <a:t>改进建议\n\n1. 从 1 epoch DPO 出发做消融\n2. 先做小规模预实验确认趋势\n3. 多维评估 (POPE+CHAIR) 不可缺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2s5oru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74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5603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98DB"/>
                </a:solidFill>
              </a:rPr>
              <a:t>发现1: 少即是多</a:t>
            </a:r>
          </a:p>
          <a:p>
            <a:pPr algn="ctr"/>
            <a:r>
              <a:rPr sz="1300" b="1">
                <a:solidFill>
                  <a:srgbClr val="3498DB"/>
                </a:solidFill>
              </a:rPr>
              <a:t>SFT 5K &gt; 50K</a:t>
            </a:r>
          </a:p>
          <a:p>
            <a:pPr algn="ctr"/>
            <a:r>
              <a:rPr sz="1300" b="1">
                <a:solidFill>
                  <a:srgbClr val="3498DB"/>
                </a:solidFill>
              </a:rPr>
              <a:t>DPO 5.7K &gt; 20K</a:t>
            </a:r>
          </a:p>
          <a:p>
            <a:pPr algn="ctr"/>
            <a:r>
              <a:rPr sz="1300" b="1">
                <a:solidFill>
                  <a:srgbClr val="3498DB"/>
                </a:solidFill>
              </a:rPr>
              <a:t>数据质量 &gt; 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43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发现2: DPO-only 悖论</a:t>
            </a:r>
          </a:p>
          <a:p>
            <a:pPr algn="ctr"/>
            <a:r>
              <a:rPr sz="1300" b="1">
                <a:solidFill>
                  <a:srgbClr val="2ECC71"/>
                </a:solidFill>
              </a:rPr>
              <a:t>判别好 ≠ 生成好</a:t>
            </a:r>
          </a:p>
          <a:p>
            <a:pPr algn="ctr"/>
            <a:r>
              <a:rPr sz="1300" b="1">
                <a:solidFill>
                  <a:srgbClr val="2ECC71"/>
                </a:solidFill>
              </a:rPr>
              <a:t>SFT 基础不可或缺</a:t>
            </a:r>
          </a:p>
          <a:p>
            <a:pPr algn="ctr"/>
            <a:r>
              <a:rPr sz="1300" b="1">
                <a:solidFill>
                  <a:srgbClr val="2ECC71"/>
                </a:solidFill>
              </a:rPr>
              <a:t>评估需多维验证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</a:rPr>
              <a:t>发现3: AI 标注可行</a:t>
            </a:r>
          </a:p>
          <a:p>
            <a:pPr algn="ctr"/>
            <a:r>
              <a:rPr sz="1300" b="1">
                <a:solidFill>
                  <a:srgbClr val="E74C3C"/>
                </a:solidFill>
              </a:rPr>
              <a:t>RLAIF-V ≈ RLHF-V</a:t>
            </a:r>
          </a:p>
          <a:p>
            <a:pPr algn="ctr"/>
            <a:r>
              <a:rPr sz="1300" b="1">
                <a:solidFill>
                  <a:srgbClr val="E74C3C"/>
                </a:solidFill>
              </a:rPr>
              <a:t>POPE +3.3%, CHAIR -0.6pp</a:t>
            </a:r>
          </a:p>
          <a:p>
            <a:pPr algn="ctr"/>
            <a:r>
              <a:rPr sz="1300" b="1">
                <a:solidFill>
                  <a:srgbClr val="E74C3C"/>
                </a:solidFill>
              </a:rPr>
              <a:t>规模化标注可期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8DCFF"/>
                </a:solidFill>
              </a:rPr>
              <a:t>25 组模型  |  5 维消融  |  4 基准评估  |  120 GPU-hours</a:t>
            </a:r>
          </a:p>
          <a:p>
            <a:pPr algn="ctr"/>
            <a:r>
              <a:rPr sz="1400">
                <a:solidFill>
                  <a:srgbClr val="C8DCFF"/>
                </a:solidFill>
              </a:rPr>
              <a:t>最优配置: SFT 5K + DPO β=1.0 1ep → POPE F1=0.889, CHAIR_i 降低 39.6%, MME 保持 99.1%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200400"/>
            <a:ext cx="5486400" cy="457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4C8F0"/>
                </a:solidFill>
              </a:rPr>
              <a:t>代码仓库: github.com/796joker/vqa-hallucination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谢谢！欢迎提问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